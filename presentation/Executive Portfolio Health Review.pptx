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24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4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11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24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0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66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5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14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94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06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830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15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953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628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887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897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63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C6B1A4-95EB-474E-9180-32992A861BC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6B6713-551C-4687-B1F6-8B8542F06C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DC45-3884-1D91-D020-321313889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Executive Portfolio Health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CD02A-4027-2B80-63ED-CB6B34E09A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AI-Powered Project Health Reporting</a:t>
            </a:r>
          </a:p>
          <a:p>
            <a:r>
              <a:rPr lang="en-IN" sz="2000" b="1" dirty="0"/>
              <a:t>Reporting Period:</a:t>
            </a:r>
            <a:r>
              <a:rPr lang="en-IN" sz="2000" dirty="0"/>
              <a:t> Monthly Portfolio Review</a:t>
            </a:r>
          </a:p>
          <a:p>
            <a:r>
              <a:rPr lang="en-IN" sz="2000" dirty="0"/>
              <a:t>Prepared by</a:t>
            </a:r>
          </a:p>
          <a:p>
            <a:r>
              <a:rPr lang="en-IN" sz="2000" dirty="0"/>
              <a:t>Ankush Yadav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61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B289-3F2A-CE12-E375-74ADAF71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 Health Snapshot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514AE3-9C6D-D089-4483-0A7A31B01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084041"/>
              </p:ext>
            </p:extLst>
          </p:nvPr>
        </p:nvGraphicFramePr>
        <p:xfrm>
          <a:off x="983225" y="2474564"/>
          <a:ext cx="4994788" cy="27168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97394">
                  <a:extLst>
                    <a:ext uri="{9D8B030D-6E8A-4147-A177-3AD203B41FA5}">
                      <a16:colId xmlns:a16="http://schemas.microsoft.com/office/drawing/2014/main" val="3779132920"/>
                    </a:ext>
                  </a:extLst>
                </a:gridCol>
                <a:gridCol w="2497394">
                  <a:extLst>
                    <a:ext uri="{9D8B030D-6E8A-4147-A177-3AD203B41FA5}">
                      <a16:colId xmlns:a16="http://schemas.microsoft.com/office/drawing/2014/main" val="3159813265"/>
                    </a:ext>
                  </a:extLst>
                </a:gridCol>
              </a:tblGrid>
              <a:tr h="4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Portfolio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4869422"/>
                  </a:ext>
                </a:extLst>
              </a:tr>
              <a:tr h="4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152657"/>
                  </a:ext>
                </a:extLst>
              </a:tr>
              <a:tr h="4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🟢 Green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434118"/>
                  </a:ext>
                </a:extLst>
              </a:tr>
              <a:tr h="4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🟠 Amber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667549"/>
                  </a:ext>
                </a:extLst>
              </a:tr>
              <a:tr h="402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🔴 Red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1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354622"/>
                  </a:ext>
                </a:extLst>
              </a:tr>
              <a:tr h="704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 Data Quality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2743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79EBB2D-A96C-82B5-E9B1-51449F52DE4A}"/>
              </a:ext>
            </a:extLst>
          </p:cNvPr>
          <p:cNvSpPr txBox="1"/>
          <p:nvPr/>
        </p:nvSpPr>
        <p:spPr>
          <a:xfrm>
            <a:off x="6410636" y="5310007"/>
            <a:ext cx="4682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Overall Portfolio Health:</a:t>
            </a:r>
            <a:r>
              <a:rPr lang="en-IN" sz="2200" dirty="0"/>
              <a:t> 🔴 </a:t>
            </a:r>
            <a:r>
              <a:rPr lang="en-IN" sz="2200" b="1" dirty="0"/>
              <a:t>Critical</a:t>
            </a: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76DBB-3BC7-FE26-5E48-D2D2F34D293D}"/>
              </a:ext>
            </a:extLst>
          </p:cNvPr>
          <p:cNvSpPr txBox="1"/>
          <p:nvPr/>
        </p:nvSpPr>
        <p:spPr>
          <a:xfrm>
            <a:off x="6213989" y="2474564"/>
            <a:ext cx="5075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projects triggered the </a:t>
            </a:r>
            <a:r>
              <a:rPr lang="en-IN" b="1" dirty="0"/>
              <a:t>RED</a:t>
            </a:r>
            <a:r>
              <a:rPr lang="en-IN" dirty="0"/>
              <a:t> status based on the defined RAG framework.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Schedule execution and budget governance are the primary portfolio risks.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One project contains incomplete financial information, reducing reporting confidence.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Early intervention is required to prevent further delivery and financial impact.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93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4B6B-474F-E93A-FFCA-61E9974BA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Portfolio Risk Trends &amp;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58D7A-8189-1387-7B04-D523698ABAFE}"/>
              </a:ext>
            </a:extLst>
          </p:cNvPr>
          <p:cNvSpPr txBox="1"/>
          <p:nvPr/>
        </p:nvSpPr>
        <p:spPr>
          <a:xfrm>
            <a:off x="3333134" y="2587518"/>
            <a:ext cx="28767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Trend 2 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Budget Overspend Emerging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Beta exceeded allocated budget.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Cost control mechanisms require closer monitoring.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EC543-9278-5B27-F637-BA92E66DFE16}"/>
              </a:ext>
            </a:extLst>
          </p:cNvPr>
          <p:cNvSpPr txBox="1"/>
          <p:nvPr/>
        </p:nvSpPr>
        <p:spPr>
          <a:xfrm>
            <a:off x="6095999" y="2522157"/>
            <a:ext cx="26645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Trend 3 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Stakeholder Confidence is Declining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Negative client sentiment detected in Alpha.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Communication and recovery planning should be prioritized.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40FAD-B8B2-A909-E448-327B062A27F6}"/>
              </a:ext>
            </a:extLst>
          </p:cNvPr>
          <p:cNvSpPr txBox="1"/>
          <p:nvPr/>
        </p:nvSpPr>
        <p:spPr>
          <a:xfrm>
            <a:off x="8630690" y="2522157"/>
            <a:ext cx="26645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Trend 4 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Quality Issues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Missing financial information identified.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logged incomplete fields instead of failing analysis.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B21D8-C877-3B85-6516-16E971F93811}"/>
              </a:ext>
            </a:extLst>
          </p:cNvPr>
          <p:cNvSpPr txBox="1"/>
          <p:nvPr/>
        </p:nvSpPr>
        <p:spPr>
          <a:xfrm>
            <a:off x="953728" y="2589402"/>
            <a:ext cx="23007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Trend 1 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Schedule Risk is Increasing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Alpha experienced significant schedule slippage.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Delays may affect downstream milestones.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9F6C0-02C9-D9FE-D4EF-E62E57B0478D}"/>
              </a:ext>
            </a:extLst>
          </p:cNvPr>
          <p:cNvSpPr txBox="1"/>
          <p:nvPr/>
        </p:nvSpPr>
        <p:spPr>
          <a:xfrm>
            <a:off x="78691" y="6427113"/>
            <a:ext cx="122624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/>
              <a:t>The portfolio demonstrates increasing operational and financial risks despite successful automated monitoring.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8F7191-5A18-50CE-2FE0-8F14C33E147C}"/>
              </a:ext>
            </a:extLst>
          </p:cNvPr>
          <p:cNvCxnSpPr>
            <a:cxnSpLocks/>
          </p:cNvCxnSpPr>
          <p:nvPr/>
        </p:nvCxnSpPr>
        <p:spPr>
          <a:xfrm>
            <a:off x="3254477" y="2428567"/>
            <a:ext cx="0" cy="3834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0A4E08-78EB-C23F-2C9B-C061A8313066}"/>
              </a:ext>
            </a:extLst>
          </p:cNvPr>
          <p:cNvCxnSpPr/>
          <p:nvPr/>
        </p:nvCxnSpPr>
        <p:spPr>
          <a:xfrm>
            <a:off x="6096000" y="2428567"/>
            <a:ext cx="0" cy="3834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E0E8CF-741C-F67A-C0D2-1F181EC953ED}"/>
              </a:ext>
            </a:extLst>
          </p:cNvPr>
          <p:cNvCxnSpPr>
            <a:cxnSpLocks/>
          </p:cNvCxnSpPr>
          <p:nvPr/>
        </p:nvCxnSpPr>
        <p:spPr>
          <a:xfrm>
            <a:off x="8589328" y="2428567"/>
            <a:ext cx="41362" cy="3834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75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7BA4-BAEE-7AF8-9D57-F762BDF0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Emerging Risks Identified by the AI Agent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77D7AA2-2F2D-1347-7257-CFE177F43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317567"/>
              </p:ext>
            </p:extLst>
          </p:nvPr>
        </p:nvGraphicFramePr>
        <p:xfrm>
          <a:off x="1167582" y="2557463"/>
          <a:ext cx="4928418" cy="3474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2806">
                  <a:extLst>
                    <a:ext uri="{9D8B030D-6E8A-4147-A177-3AD203B41FA5}">
                      <a16:colId xmlns:a16="http://schemas.microsoft.com/office/drawing/2014/main" val="2175980155"/>
                    </a:ext>
                  </a:extLst>
                </a:gridCol>
                <a:gridCol w="1642806">
                  <a:extLst>
                    <a:ext uri="{9D8B030D-6E8A-4147-A177-3AD203B41FA5}">
                      <a16:colId xmlns:a16="http://schemas.microsoft.com/office/drawing/2014/main" val="3736912491"/>
                    </a:ext>
                  </a:extLst>
                </a:gridCol>
                <a:gridCol w="1642806">
                  <a:extLst>
                    <a:ext uri="{9D8B030D-6E8A-4147-A177-3AD203B41FA5}">
                      <a16:colId xmlns:a16="http://schemas.microsoft.com/office/drawing/2014/main" val="3238167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Portfolio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605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Schedule Slippage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Delayed project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🔴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5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Budget Overrun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Increased project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🔴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642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Stakeholder Dissatisfaction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 client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🔴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93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Missing Project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Reduced reporting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🟠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481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3BBCE4-E80E-A8C6-586A-32A64440398E}"/>
              </a:ext>
            </a:extLst>
          </p:cNvPr>
          <p:cNvSpPr txBox="1"/>
          <p:nvPr/>
        </p:nvSpPr>
        <p:spPr>
          <a:xfrm>
            <a:off x="6449962" y="2557463"/>
            <a:ext cx="492841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AI Risk Assessment</a:t>
            </a:r>
          </a:p>
          <a:p>
            <a:r>
              <a:rPr lang="en-IN" sz="2400" dirty="0"/>
              <a:t>The AI agent identified common risk patterns affecting multiple projects: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Delivery execution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Budget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Client satisfaction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 completeness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A243D-0709-6524-338B-D0FCC11039F1}"/>
              </a:ext>
            </a:extLst>
          </p:cNvPr>
          <p:cNvSpPr txBox="1"/>
          <p:nvPr/>
        </p:nvSpPr>
        <p:spPr>
          <a:xfrm>
            <a:off x="422787" y="6457890"/>
            <a:ext cx="13234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Without timely corrective action, these risks may significantly affect delivery performance and customer satisfaction.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3376F3-E459-911C-7AD5-A314BE6775FF}"/>
              </a:ext>
            </a:extLst>
          </p:cNvPr>
          <p:cNvCxnSpPr>
            <a:cxnSpLocks/>
          </p:cNvCxnSpPr>
          <p:nvPr/>
        </p:nvCxnSpPr>
        <p:spPr>
          <a:xfrm>
            <a:off x="6253316" y="2438400"/>
            <a:ext cx="0" cy="3824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59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7AD6-9B32-4641-3F0B-33E05CE26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F1171-19CB-0708-9821-C5165CE90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8" y="2503088"/>
            <a:ext cx="3633426" cy="1851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136A0-55CB-245B-5B96-E4C8E9B3B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532" y="2503089"/>
            <a:ext cx="3101609" cy="1851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68F940-91E3-2E87-8E4F-2BE1210D5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791" y="2503088"/>
            <a:ext cx="3340431" cy="1943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597741-895F-920F-2208-3A4725EB7586}"/>
              </a:ext>
            </a:extLst>
          </p:cNvPr>
          <p:cNvSpPr txBox="1"/>
          <p:nvPr/>
        </p:nvSpPr>
        <p:spPr>
          <a:xfrm>
            <a:off x="580103" y="5220929"/>
            <a:ext cx="111065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/>
              <a:t>Proactive monitoring is significantly less expensive than reactive recovery.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74DB4F-401A-95D4-60DA-C1C80E7AC958}"/>
              </a:ext>
            </a:extLst>
          </p:cNvPr>
          <p:cNvCxnSpPr>
            <a:cxnSpLocks/>
          </p:cNvCxnSpPr>
          <p:nvPr/>
        </p:nvCxnSpPr>
        <p:spPr>
          <a:xfrm>
            <a:off x="4562168" y="2428568"/>
            <a:ext cx="0" cy="2182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56970F-C366-D76E-02C2-FC0DF916A094}"/>
              </a:ext>
            </a:extLst>
          </p:cNvPr>
          <p:cNvCxnSpPr>
            <a:cxnSpLocks/>
          </p:cNvCxnSpPr>
          <p:nvPr/>
        </p:nvCxnSpPr>
        <p:spPr>
          <a:xfrm>
            <a:off x="7885471" y="2428568"/>
            <a:ext cx="0" cy="2182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88A7A0-1CC1-B33E-A417-A0AFADCF7AC9}"/>
              </a:ext>
            </a:extLst>
          </p:cNvPr>
          <p:cNvCxnSpPr>
            <a:cxnSpLocks/>
          </p:cNvCxnSpPr>
          <p:nvPr/>
        </p:nvCxnSpPr>
        <p:spPr>
          <a:xfrm>
            <a:off x="757084" y="4611329"/>
            <a:ext cx="107171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9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7AE5C-2389-67B5-7CEA-8098CB0B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Value Delivered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78BE31-E500-E47D-8517-430CEA2A98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673760"/>
              </p:ext>
            </p:extLst>
          </p:nvPr>
        </p:nvGraphicFramePr>
        <p:xfrm>
          <a:off x="833283" y="2573868"/>
          <a:ext cx="4603956" cy="3302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1978">
                  <a:extLst>
                    <a:ext uri="{9D8B030D-6E8A-4147-A177-3AD203B41FA5}">
                      <a16:colId xmlns:a16="http://schemas.microsoft.com/office/drawing/2014/main" val="305767494"/>
                    </a:ext>
                  </a:extLst>
                </a:gridCol>
                <a:gridCol w="2301978">
                  <a:extLst>
                    <a:ext uri="{9D8B030D-6E8A-4147-A177-3AD203B41FA5}">
                      <a16:colId xmlns:a16="http://schemas.microsoft.com/office/drawing/2014/main" val="4113497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Before AI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AI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26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project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Automated weekly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66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Inconsistent RAG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Standardized scoring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66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Delayed executive visibility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Instant health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20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risk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AI-generated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0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 data 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Automatic data gap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166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899549-B328-2AB4-A411-74128AB20E9B}"/>
              </a:ext>
            </a:extLst>
          </p:cNvPr>
          <p:cNvSpPr txBox="1"/>
          <p:nvPr/>
        </p:nvSpPr>
        <p:spPr>
          <a:xfrm>
            <a:off x="5535562" y="2540677"/>
            <a:ext cx="48964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Key Benefits</a:t>
            </a:r>
          </a:p>
          <a:p>
            <a:r>
              <a:rPr lang="en-IN" dirty="0"/>
              <a:t>✅ Automated portfolio monitoring</a:t>
            </a:r>
          </a:p>
          <a:p>
            <a:r>
              <a:rPr lang="en-IN" dirty="0"/>
              <a:t>✅ Consistent RAG evaluation</a:t>
            </a:r>
          </a:p>
          <a:p>
            <a:r>
              <a:rPr lang="en-IN" dirty="0"/>
              <a:t>✅ Explainable AI recommendations</a:t>
            </a:r>
          </a:p>
          <a:p>
            <a:r>
              <a:rPr lang="en-IN" dirty="0"/>
              <a:t>✅ Graceful handling of incomplete data</a:t>
            </a:r>
          </a:p>
          <a:p>
            <a:r>
              <a:rPr lang="en-IN" dirty="0"/>
              <a:t>✅ Historical report generation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012DF-7825-9530-51FF-1D60B5ACCA24}"/>
              </a:ext>
            </a:extLst>
          </p:cNvPr>
          <p:cNvSpPr txBox="1"/>
          <p:nvPr/>
        </p:nvSpPr>
        <p:spPr>
          <a:xfrm>
            <a:off x="5535562" y="4572002"/>
            <a:ext cx="5653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Project Health Reporting Agent enables leadership to identify delivery risks earlier, improve project governance, and make faster, data-driven decisions through automated AI-powered health assessments.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19B70F-F3AC-AF0B-981C-F8BBCDAA86B6}"/>
              </a:ext>
            </a:extLst>
          </p:cNvPr>
          <p:cNvCxnSpPr/>
          <p:nvPr/>
        </p:nvCxnSpPr>
        <p:spPr>
          <a:xfrm>
            <a:off x="5535562" y="2448232"/>
            <a:ext cx="0" cy="3785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46F118-5E9B-1D22-AA9D-BC93393DCB5B}"/>
              </a:ext>
            </a:extLst>
          </p:cNvPr>
          <p:cNvCxnSpPr/>
          <p:nvPr/>
        </p:nvCxnSpPr>
        <p:spPr>
          <a:xfrm>
            <a:off x="5535562" y="4434348"/>
            <a:ext cx="60370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51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6F77-7748-F8E6-19CE-125BEB87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64ECE-13BF-02B4-E657-F98C5B92D01F}"/>
              </a:ext>
            </a:extLst>
          </p:cNvPr>
          <p:cNvSpPr txBox="1"/>
          <p:nvPr/>
        </p:nvSpPr>
        <p:spPr>
          <a:xfrm>
            <a:off x="1295402" y="2433001"/>
            <a:ext cx="10159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portfolio assessment identified </a:t>
            </a:r>
            <a:r>
              <a:rPr lang="en-IN" b="1" dirty="0"/>
              <a:t>critical delivery and financial risks</a:t>
            </a:r>
            <a:r>
              <a:rPr lang="en-IN" dirty="0"/>
              <a:t> that require immediate leadership attention. While the projects face different challenges, the AI-powered reporting framework successfully identified high-priority issues, explained their business impact, and highlighted areas requiring corrective action.</a:t>
            </a:r>
          </a:p>
          <a:p>
            <a:r>
              <a:rPr lang="en-IN" dirty="0"/>
              <a:t>The analysis also demonstrated that automated health reporting can provide consistent, transparent, and timely project evaluations without relying on manual reviews.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617DD-AA6C-04BE-9386-C915DD76C17D}"/>
              </a:ext>
            </a:extLst>
          </p:cNvPr>
          <p:cNvSpPr txBox="1"/>
          <p:nvPr/>
        </p:nvSpPr>
        <p:spPr>
          <a:xfrm>
            <a:off x="823454" y="3972232"/>
            <a:ext cx="52725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Immediate Priorities</a:t>
            </a:r>
          </a:p>
          <a:p>
            <a:r>
              <a:rPr lang="en-IN" dirty="0"/>
              <a:t>✔ Stabilize project delivery through schedule recovery planning.</a:t>
            </a:r>
          </a:p>
          <a:p>
            <a:r>
              <a:rPr lang="en-IN" dirty="0"/>
              <a:t>✔ Improve budget governance and financial monitoring.</a:t>
            </a:r>
          </a:p>
          <a:p>
            <a:r>
              <a:rPr lang="en-IN" dirty="0"/>
              <a:t>✔ Strengthen stakeholder communication to restore confidence.</a:t>
            </a:r>
          </a:p>
          <a:p>
            <a:r>
              <a:rPr lang="en-IN" dirty="0"/>
              <a:t>✔ Standardize project data quality across engagements.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6DD57-452D-4C5A-3BB6-89E6C66E713F}"/>
              </a:ext>
            </a:extLst>
          </p:cNvPr>
          <p:cNvSpPr txBox="1"/>
          <p:nvPr/>
        </p:nvSpPr>
        <p:spPr>
          <a:xfrm>
            <a:off x="6096001" y="3972232"/>
            <a:ext cx="55650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Strategic 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 the AI Project Health Reporting Agent as part of the weekly PMO governance process to provide: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portfolio health assessments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Early risk detection and escalation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Consistent executive reporting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decision-making through explainable AI insights</a:t>
            </a:r>
          </a:p>
          <a:p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C4779A-FCD9-4B5C-02A2-F80539DAA1B4}"/>
              </a:ext>
            </a:extLst>
          </p:cNvPr>
          <p:cNvCxnSpPr/>
          <p:nvPr/>
        </p:nvCxnSpPr>
        <p:spPr>
          <a:xfrm>
            <a:off x="624348" y="3972232"/>
            <a:ext cx="10943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CE7EE2-F2C1-39B3-549D-427C6B8D97DD}"/>
              </a:ext>
            </a:extLst>
          </p:cNvPr>
          <p:cNvCxnSpPr/>
          <p:nvPr/>
        </p:nvCxnSpPr>
        <p:spPr>
          <a:xfrm>
            <a:off x="6007510" y="3972232"/>
            <a:ext cx="0" cy="2308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761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</TotalTime>
  <Words>520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Executive Portfolio Health Review</vt:lpstr>
      <vt:lpstr>Portfolio Health Snapshot</vt:lpstr>
      <vt:lpstr>Portfolio Risk Trends &amp; Analysis</vt:lpstr>
      <vt:lpstr>Emerging Risks Identified by the AI Agent</vt:lpstr>
      <vt:lpstr>Executive Recommendations</vt:lpstr>
      <vt:lpstr>Business Value Delivered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YADAV</dc:creator>
  <cp:lastModifiedBy>ANKUSH YADAV</cp:lastModifiedBy>
  <cp:revision>1</cp:revision>
  <dcterms:created xsi:type="dcterms:W3CDTF">2026-07-07T10:06:00Z</dcterms:created>
  <dcterms:modified xsi:type="dcterms:W3CDTF">2026-07-07T11:13:16Z</dcterms:modified>
</cp:coreProperties>
</file>